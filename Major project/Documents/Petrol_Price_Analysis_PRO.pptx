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13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introduce yourself and the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4160499" y="777683"/>
            <a:ext cx="4572000" cy="3200400"/>
          </a:xfrm>
          <a:prstGeom prst="rect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2534113" y="1942567"/>
            <a:ext cx="3657600" cy="2560320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57200"/>
            <a:ext cx="1325880" cy="1325880"/>
          </a:xfrm>
          <a:prstGeom prst="ellipse">
            <a:avLst/>
          </a:prstGeom>
          <a:solidFill>
            <a:srgbClr val="F59E0B"/>
          </a:solidFill>
          <a:ln/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202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PRICE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11480" y="2633472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411480" y="3383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2023 – 2024   ·   Power BI Dashboard Project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0" y="3767328"/>
            <a:ext cx="4572000" cy="2743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8862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42428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121408" y="38862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121408" y="42428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85616" y="38862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785616" y="42428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49824" y="38862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49824" y="42428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14032" y="38862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114032" y="42428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Navdeep Kaur (2420478)   ·   BTech CSE IOT   ·   CGC University Mohali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679192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679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Analysis Matters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challenges in understanding Indian petrol prices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4187952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" y="1719072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564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719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Price Fluctuations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12064" y="2167128"/>
            <a:ext cx="3840480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" y="225856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and diesel prices in India change almost daily, making it difficult for consumers and businesses to plan fuel expenses effectively.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572768"/>
            <a:ext cx="4187952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19472" y="1719072"/>
            <a:ext cx="475488" cy="475488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755648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04688" y="1719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Factor Impact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919472" y="2167128"/>
            <a:ext cx="3840480" cy="18288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919472" y="225856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crude oil prices and rupee depreciation against USD directly increase fuel costs, but the exact impact across cities remains unclear.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47472" y="3236976"/>
            <a:ext cx="4187952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2064" y="3383280"/>
            <a:ext cx="475488" cy="475488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1985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Price Inequality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12064" y="3831336"/>
            <a:ext cx="3840480" cy="18288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512064" y="392277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prices vary significantly across cities and states due to different state tax structures, transportation costs, and dealer commissions.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754880" y="3236976"/>
            <a:ext cx="4187952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919472" y="3383280"/>
            <a:ext cx="475488" cy="475488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419856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04688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Patterns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4919472" y="3831336"/>
            <a:ext cx="3840480" cy="18288"/>
          </a:xfrm>
          <a:prstGeom prst="rect">
            <a:avLst/>
          </a:prstGeom>
          <a:solidFill>
            <a:srgbClr val="FB7185">
              <a:alpha val="30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4919472" y="392277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seasons and weekends may influence demand and pricing, but these patterns have never been systematically analyzed for Indian cities.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74036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5740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DATASET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petrol &amp; diesel price records across 20 Indian cities — Jan 2023 to Dec 2024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709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2212848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258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64208" y="225856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daily fuel price records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265176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2697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664208" y="269748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Dec 2024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090672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64208" y="313639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352958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" y="35753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664208" y="357530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Indian cities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968496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" y="40142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664208" y="401421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Indian states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407408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" y="44531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664208" y="445312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petrol_price.csv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498848" y="1572768"/>
            <a:ext cx="4297680" cy="3246120"/>
          </a:xfrm>
          <a:prstGeom prst="roundRect">
            <a:avLst>
              <a:gd name="adj" fmla="val 338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719072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20640" y="1709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Columns in Dataset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645152" y="22860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1"/>
          <p:cNvSpPr/>
          <p:nvPr/>
        </p:nvSpPr>
        <p:spPr>
          <a:xfrm>
            <a:off x="4864608" y="2231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City, State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645152" y="261518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3"/>
          <p:cNvSpPr/>
          <p:nvPr/>
        </p:nvSpPr>
        <p:spPr>
          <a:xfrm>
            <a:off x="4864608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Petrol_Price_INR,  Diesel_Price_INR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645152" y="2944368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9" name="Text 35"/>
          <p:cNvSpPr/>
          <p:nvPr/>
        </p:nvSpPr>
        <p:spPr>
          <a:xfrm>
            <a:off x="4864608" y="28895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Crude_Oil_USD,  Exchange_Rate_USD_INR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645152" y="327355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1" name="Text 37"/>
          <p:cNvSpPr/>
          <p:nvPr/>
        </p:nvSpPr>
        <p:spPr>
          <a:xfrm>
            <a:off x="4864608" y="3218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Tax_Percentage,  Dealer_Commission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645152" y="360273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3" name="Text 39"/>
          <p:cNvSpPr/>
          <p:nvPr/>
        </p:nvSpPr>
        <p:spPr>
          <a:xfrm>
            <a:off x="4864608" y="3547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Transportation_Cost,  Inflation_Rate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645152" y="393192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5" name="Text 41"/>
          <p:cNvSpPr/>
          <p:nvPr/>
        </p:nvSpPr>
        <p:spPr>
          <a:xfrm>
            <a:off x="4864608" y="38770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Demand_Index,  Supply_Index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645152" y="426110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7" name="Text 43"/>
          <p:cNvSpPr/>
          <p:nvPr/>
        </p:nvSpPr>
        <p:spPr>
          <a:xfrm>
            <a:off x="4864608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Vehicle_Density,  Population_Millions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645152" y="4590288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9" name="Text 45"/>
          <p:cNvSpPr/>
          <p:nvPr/>
        </p:nvSpPr>
        <p:spPr>
          <a:xfrm>
            <a:off x="4864608" y="45354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Festival_Season,  Weekend,  Trend_Label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74036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5740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steps taken before building any visual in Power BI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1572768"/>
            <a:ext cx="2779776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1641009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0624" y="167030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1719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2157984"/>
            <a:ext cx="2487168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2249424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flat CSV into 1 Fact + 5 Dimension tables: Dim_City, Dim_Economic, Dim_Trend, Dim_Season, DateTable.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1572768"/>
            <a:ext cx="2779776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55848" y="1641009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67030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77056" y="1719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Fixing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5848" y="2157984"/>
            <a:ext cx="2487168" cy="18288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249424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columns → Date type. Price columns → Decimal Number. ID columns → Whole Number in Power Query Editor.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1574461"/>
            <a:ext cx="2779776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81928" y="1641009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248739" y="165506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72317" y="1717717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Building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81928" y="2148840"/>
            <a:ext cx="2487168" cy="18288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36792" y="222588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relationships created in Model View connecting Fact table to all Dimension tables via foreign keys.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2608" y="3291840"/>
            <a:ext cx="2779776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3379724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34086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Order Correction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" y="3877056"/>
            <a:ext cx="2487168" cy="18288"/>
          </a:xfrm>
          <a:prstGeom prst="rect">
            <a:avLst/>
          </a:prstGeom>
          <a:solidFill>
            <a:srgbClr val="FB7185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" y="396849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sorted by MonthNo (Jan→Dec). Weekday sorted by WeekdayNo (Mon→Sun). State/City set as geographic data categories.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1548" y="3293872"/>
            <a:ext cx="2779776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346704" y="337972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3346704" y="339801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77056" y="34452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DAX Measures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401568" y="3877056"/>
            <a:ext cx="2487168" cy="18288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374136" y="3929041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measures: averages, YoY/MoM growth, rolling 7-day avg, volatility, rankings, seasonal premiums, demand-supply gap.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53912" y="3312331"/>
            <a:ext cx="2779776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15117" y="3348567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315117" y="3368211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03136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 Setup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6171" y="3858768"/>
            <a:ext cx="2487168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48739" y="3905504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 marked as official Date Table enabling all time intelligence DAX: SAMEPERIODLASTYEAR, TOTALYTD, DATEADD.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943100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9431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Data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architecture connecting 6 tables with 5 One-to-Many relationships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9844" y="2894076"/>
            <a:ext cx="2443733" cy="1612731"/>
          </a:xfrm>
          <a:prstGeom prst="roundRect">
            <a:avLst>
              <a:gd name="adj" fmla="val 6306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00400" y="1883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5019" y="293996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Fact_Petrol_Price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4972" y="3358557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Petrol_Price_INR · Diesel_Price_INR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27832" y="366234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Tax_% · Demand_Index · Supply_Index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30880" y="39410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Price_Change_% · Dealer_Commission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27832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Transportation_Cost · Vehicle_Density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0324" y="1536192"/>
            <a:ext cx="2633472" cy="1115568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4684" y="1646175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1869" y="182981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4412" y="2085848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Month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· Weekday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7188" y="3269150"/>
            <a:ext cx="2633472" cy="1115568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4033" y="332841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6604" y="349300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140" y="3798485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City_ID · City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9168" y="1508424"/>
            <a:ext cx="2633472" cy="1115568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84014" y="1562355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44974" y="1741255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Dim_Economic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9844" y="1979172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Eco_ID · Crude_Oil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20408" y="1505374"/>
            <a:ext cx="2633472" cy="1115568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62027" y="153043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44768" y="169663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Dim_Trend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92023" y="1985941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· Falling · Stable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12761" y="3245865"/>
            <a:ext cx="2633472" cy="1115568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39613" y="32644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53328" y="338328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Dim_Season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63056" y="3739896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· Weekend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flipV="1">
            <a:off x="2873164" y="2073319"/>
            <a:ext cx="377665" cy="45719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flipV="1">
            <a:off x="3005328" y="3769699"/>
            <a:ext cx="334516" cy="51644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51514" y="2605618"/>
            <a:ext cx="45719" cy="347895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886834" y="2098972"/>
            <a:ext cx="333575" cy="45719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53860" y="3747852"/>
            <a:ext cx="355853" cy="45719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relationships: One-to-Many (1 : *)   ·   Direction: Dimension → Fact Table   ·   Cross-filter: Single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889504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8895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GEOGRAPHIC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&amp; State Price Distribution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petrol price inequality across 16 Indian states and 20 cities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572768"/>
            <a:ext cx="4404360" cy="3246120"/>
          </a:xfrm>
          <a:prstGeom prst="roundRect">
            <a:avLst>
              <a:gd name="adj" fmla="val 3944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2286000"/>
            <a:ext cx="1170432" cy="1170432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04288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Power BI Map + Top Cities Bar Chart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here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1700784"/>
            <a:ext cx="457200" cy="45720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2821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9264" y="16276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Filled Map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9264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states colored by Avg Petrol Price. Darker = costlier. Click any state to filter all page charts instantly.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39572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" y="252374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51176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" y="24505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Price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69264" y="2743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sorted descending with Top N filter. Data labels show exact price per city.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321868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8912" y="3346704"/>
            <a:ext cx="457200" cy="45720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7413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9264" y="32735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% by State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69264" y="3566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highest VAT on fuel identified. State tax is the single biggest domestic price driver.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04164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38912" y="4169664"/>
            <a:ext cx="457200" cy="45720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97096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9264" y="4096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vs Diesel Gap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69264" y="4389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measure: Avg Petrol − Avg Diesel. Diesel is consistently cheaper across all 20 cities.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5DECB30-DBC2-B197-C1EE-E9AA97D12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186" y="1664209"/>
            <a:ext cx="4295934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153412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1534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PRICE TRENDS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Trend &amp; Time Intelligence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patterns, YoY/MoM growth, and rolling averages using DAX time intelligence functions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19" y="1572768"/>
            <a:ext cx="4431453" cy="3246120"/>
          </a:xfrm>
          <a:prstGeom prst="roundRect">
            <a:avLst>
              <a:gd name="adj" fmla="val 3944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2286000"/>
            <a:ext cx="1170432" cy="1170432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04288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Power BI Monthly Line Chart + YoY Column Chart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here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170078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2821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9264" y="16276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9264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SAMEPERIODLASTYEAR compares each month to the same month last year. 2024 vs 2023 movement.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39572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" y="2523744"/>
            <a:ext cx="457200" cy="45720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51176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" y="24505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 %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69264" y="2743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DATEADD with -1 MONTH offset tracks short-term month-to-month price movement.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321868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8912" y="3346704"/>
            <a:ext cx="457200" cy="45720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7413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9264" y="32735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Avg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69264" y="3566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DATESINPERIOD smooths daily spikes revealing the true underlying price trend direction.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04164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38912" y="4169664"/>
            <a:ext cx="457200" cy="45720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97096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9264" y="4096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Volatility by Month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69264" y="43113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which month had the most Price Swing.</a:t>
            </a:r>
            <a:endParaRPr lang="en-US" sz="9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5FD2360-9C38-1F9D-206C-0409CC6923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920" y="1645920"/>
            <a:ext cx="4294632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74036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5740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ECONOMIC FACTORS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of Economic Factors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global crude oil prices, exchange rates, and inflation drive domestic petrol costs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572768"/>
            <a:ext cx="4343400" cy="3246120"/>
          </a:xfrm>
          <a:prstGeom prst="roundRect">
            <a:avLst>
              <a:gd name="adj" fmla="val 3944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2286000"/>
            <a:ext cx="1170432" cy="1170432"/>
          </a:xfrm>
          <a:prstGeom prst="ellipse">
            <a:avLst/>
          </a:prstGeom>
          <a:solidFill>
            <a:srgbClr val="FB7185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04288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Power BI Crude Oil Dual-Axis Chart + Exchange Rate Chart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here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170078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2821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9264" y="16276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vs Petrol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9264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line chart shows clear positive correlation. Crude oil spike → petrol price rise within year.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39572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" y="2523744"/>
            <a:ext cx="457200" cy="45720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51176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" y="24505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Impact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69264" y="2743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shows: weaker rupee (higher USD/INR) → costlier crude imports → higher petrol prices.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321868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8912" y="3346704"/>
            <a:ext cx="457200" cy="45720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7413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9264" y="32735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Correlation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69264" y="3566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 compares monthly inflation rate with price change %. Both move in the same direction.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9184" y="4061629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38912" y="4169664"/>
            <a:ext cx="457200" cy="45720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97096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9264" y="4096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Cost Price Trend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69264" y="4375573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crude oil movement over time.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46CAE77-2B5D-13C2-3142-0EE06B5323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7303" y="1671659"/>
            <a:ext cx="4206240" cy="30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258568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258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COST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Breakdown &amp; Tax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petrol price into tax, dealer commission, transportation cost, and base price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19" y="1572768"/>
            <a:ext cx="4472093" cy="3246120"/>
          </a:xfrm>
          <a:prstGeom prst="roundRect">
            <a:avLst>
              <a:gd name="adj" fmla="val 3944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2286000"/>
            <a:ext cx="1170432" cy="1170432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04288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Power BI Tax Scatter Chart + Stacked Bar Chart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here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170078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2821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9264" y="16276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% Scatter Chart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9264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Tax_% (X) vs Petrol_Price (Y) by state. Trendline confirms: higher tax = higher price.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39572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" y="2523744"/>
            <a:ext cx="457200" cy="45720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51176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" y="24505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Stacked Bar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69264" y="2743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bar: Avg Dealer Commission + Avg Transportation Cost per city side by side.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321868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8912" y="3346704"/>
            <a:ext cx="457200" cy="45720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7413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9264" y="32735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% by City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69264" y="3566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sorted descending — reveals which city impose the heaviest fuel tax burden.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04164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38912" y="4169664"/>
            <a:ext cx="457200" cy="45720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97096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9264" y="4096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Petrol–Diesel Gap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69264" y="4389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is consistently ₹8–12 cheaper than petrol across all cities — shown per city in a column chart.</a:t>
            </a:r>
            <a:endParaRPr lang="en-US" sz="9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51280F5-7CC9-AE26-81D6-07EDBC960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600" y="1664208"/>
            <a:ext cx="4344863" cy="3081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679192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2679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SEASONAL &amp; DEMAND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Patterns &amp; Demand-Supply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season premiums, weekend pricing, day-of-week patterns, and demand-supply gap analysis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572768"/>
            <a:ext cx="4445000" cy="3246120"/>
          </a:xfrm>
          <a:prstGeom prst="roundRect">
            <a:avLst>
              <a:gd name="adj" fmla="val 3944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2286000"/>
            <a:ext cx="1170432" cy="1170432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04288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Power BI Festival Bar Chart + Demand-Supply Line Chart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here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170078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2821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9264" y="16276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Season Premium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9264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weekends show highest Avg Price. DAX: Avg Price(Festival) − Avg Price(Non-Festival) = premium in ₹.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39572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" y="2523744"/>
            <a:ext cx="457200" cy="45720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51176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" y="24505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69264" y="2743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Price Premium measure quantifies exact difference. Clustered column chart with Legend = Weekend field.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321868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8912" y="3346704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7413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9264" y="32735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Pattern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69264" y="3566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using DateTable[Weekday] sorted Mon–Sun. Reveals which day consistently has cheapest petrol.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041648"/>
            <a:ext cx="4133088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38912" y="4169664"/>
            <a:ext cx="457200" cy="45720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97096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9264" y="4096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Demand–Supply Gap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69264" y="4389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Demand_Index − Supply_Index measure. Positive = demand exceeds supply = upward price pressure that month.</a:t>
            </a:r>
            <a:endParaRPr lang="en-US" sz="9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03020AE-EE1E-81E5-DEB9-1D4A8C92B0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0448" y="1709928"/>
            <a:ext cx="4319544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2608" y="822960"/>
            <a:ext cx="422452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" y="9418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" y="9509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50976" y="914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is the #1 domestic driver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" y="1371600"/>
            <a:ext cx="3931920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petrol price is state VAT. High-tax states show consistently higher prices regardless of global crude movement.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822960"/>
            <a:ext cx="422452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92040" y="9418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9509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13248" y="914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&amp; petrol move together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92040" y="1371600"/>
            <a:ext cx="3931920" cy="18288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chart confirms positive correlation — every crude spike is followed by a petrol rise within 1–2 months.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2608" y="822960"/>
            <a:ext cx="422452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9768" y="9418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429768" y="9509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50976" y="914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prices vary ₹8–10 per litre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9768" y="1371600"/>
            <a:ext cx="3931920" cy="18288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29768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 reveals significant inter-city gaps driven by transportation costs, dealer margins, and state taxes.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2194560"/>
            <a:ext cx="422452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92040" y="23134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B7185"/>
          </a:solidFill>
          <a:ln/>
        </p:spPr>
      </p:sp>
      <p:sp>
        <p:nvSpPr>
          <p:cNvPr id="29" name="Text 26"/>
          <p:cNvSpPr/>
          <p:nvPr/>
        </p:nvSpPr>
        <p:spPr>
          <a:xfrm>
            <a:off x="4892040" y="23225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13248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seasons push prices higher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892040" y="2743200"/>
            <a:ext cx="3931920" cy="18288"/>
          </a:xfrm>
          <a:prstGeom prst="rect">
            <a:avLst/>
          </a:prstGeom>
          <a:solidFill>
            <a:srgbClr val="FB7185">
              <a:alpha val="3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892040" y="2834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Premium DAX measure confirms petrol is priced higher during festivals, especially on festival weekends.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92608" y="2194560"/>
            <a:ext cx="422452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9768" y="23134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35" name="Text 32"/>
          <p:cNvSpPr/>
          <p:nvPr/>
        </p:nvSpPr>
        <p:spPr>
          <a:xfrm>
            <a:off x="429768" y="23225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50976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depreciation raises costs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29768" y="2743200"/>
            <a:ext cx="3931920" cy="18288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29768" y="2834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USD/INR exchange rate rises (rupee weakens), crude import costs increase — directly pushing petrol prices up.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54880" y="2194560"/>
            <a:ext cx="422452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892040" y="23134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41" name="Text 38"/>
          <p:cNvSpPr/>
          <p:nvPr/>
        </p:nvSpPr>
        <p:spPr>
          <a:xfrm>
            <a:off x="4892040" y="232257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13248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Demand-supply gap signals price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892040" y="2743200"/>
            <a:ext cx="3931920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4892040" y="2834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Demand Index &gt; Supply Index show upward price pressure — demand-supply dynamics are measurable.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943100" cy="274320"/>
          </a:xfrm>
          <a:prstGeom prst="roundRect">
            <a:avLst>
              <a:gd name="adj" fmla="val 1666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9431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Learnings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achieved and what I learned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006340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India 2023–2024  ·  Navdeep Kaur (2420478)  ·  CGC University Mohali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73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8449056" cy="100584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45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0195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project analysed 10,000 daily petrol price records across 20 Indian cities from January 2023 to December 2024. A professional Star Schema data model was built from a flat CSV, 41 DAX measures were created, and 28 interactive visuals were deployed across 7 report pages to deliver insights on pricing patterns, economic correlations, geographic disparities, and seasonal behaviour.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81635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5234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makes Power BI faster and more flexible than a single flat 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1868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546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are more powerful than Excel formulas — they update automatically with every filter click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21024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5701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tables are the foundation of every meaningful visual in Power BI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5935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turns raw numbers into clear stories that anyone can understand instantly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42569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6168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petrol prices are driven by a combination of global (crude, exchange rate) and local (tax, demand) factors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2606040"/>
            <a:ext cx="3657600" cy="36576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88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529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Navdeep Kaur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42032" y="2788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28529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42032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2420478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26864" y="2788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28529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26864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CSE IOT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11696" y="2788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11696" y="28529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11696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CGC Mohali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Questions &amp; Feedback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Price Analysis  ·  Power BI Dashboard Project  ·  India 2023–2024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1812</Words>
  <Application>Microsoft Office PowerPoint</Application>
  <PresentationFormat>On-screen Show (16:9)</PresentationFormat>
  <Paragraphs>248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Petrol Price Analysis — India 2023–2024</dc:title>
  <dc:subject>PptxGenJS Presentation</dc:subject>
  <dc:creator>PptxGenJS</dc:creator>
  <cp:lastModifiedBy>Navdeep Kaur</cp:lastModifiedBy>
  <cp:revision>6</cp:revision>
  <dcterms:created xsi:type="dcterms:W3CDTF">2026-07-03T04:45:13Z</dcterms:created>
  <dcterms:modified xsi:type="dcterms:W3CDTF">2026-07-03T09:53:15Z</dcterms:modified>
</cp:coreProperties>
</file>